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png" ContentType="image/pn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8879c8ccedf40e1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b1cb92c2161d4fea" /><Relationship Type="http://schemas.openxmlformats.org/officeDocument/2006/relationships/custom-properties" Target="/docProps/custom.xml" Id="R472e5e66ebd642c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Relationship Type="http://schemas.openxmlformats.org/officeDocument/2006/relationships/slideLayout" Target="/ppt/slideLayouts/slideLayout12.xml" Id="rId13" /><Relationship Type="http://schemas.openxmlformats.org/officeDocument/2006/relationships/slideLayout" Target="/ppt/slideLayouts/slideLayout13.xml" Id="rId14" /><Relationship Type="http://schemas.openxmlformats.org/officeDocument/2006/relationships/slideLayout" Target="/ppt/slideLayouts/slideLayout14.xml" Id="rId15" /><Relationship Type="http://schemas.openxmlformats.org/officeDocument/2006/relationships/slideLayout" Target="/ppt/slideLayouts/slideLayout15.xml" Id="rId16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jp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2.jpg" Id="rId2" /><Relationship Type="http://schemas.openxmlformats.org/officeDocument/2006/relationships/image" Target="/ppt/media/image.png" Id="rId3" /><Relationship Type="http://schemas.openxmlformats.org/officeDocument/2006/relationships/image" Target="/ppt/media/image2.png" Id="rId4" /><Relationship Type="http://schemas.openxmlformats.org/officeDocument/2006/relationships/image" Target="/ppt/media/image3.jpg" Id="rI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3.png" Id="rId2" /><Relationship Type="http://schemas.openxmlformats.org/officeDocument/2006/relationships/image" Target="/ppt/media/image4.jp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5.jpg" Id="rId2" /><Relationship Type="http://schemas.openxmlformats.org/officeDocument/2006/relationships/image" Target="/ppt/media/image4.png" Id="rId3" /><Relationship Type="http://schemas.openxmlformats.org/officeDocument/2006/relationships/image" Target="/ppt/media/image6.jp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7.jp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8.jpg" Id="rId2" /><Relationship Type="http://schemas.openxmlformats.org/officeDocument/2006/relationships/image" Target="/ppt/media/image9.jpg" Id="rId3" /><Relationship Type="http://schemas.openxmlformats.org/officeDocument/2006/relationships/image" Target="/ppt/media/image10.jp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jpg" Id="rId2" /><Relationship Type="http://schemas.openxmlformats.org/officeDocument/2006/relationships/image" Target="/ppt/media/image12.jpg" Id="rId3" /><Relationship Type="http://schemas.openxmlformats.org/officeDocument/2006/relationships/image" Target="/ppt/media/image13.jp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14.jpg" Id="rId2" /><Relationship Type="http://schemas.openxmlformats.org/officeDocument/2006/relationships/image" Target="/ppt/media/image15.jpg" Id="rId3" /><Relationship Type="http://schemas.openxmlformats.org/officeDocument/2006/relationships/image" Target="/ppt/media/image16.jpg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image" Target="/ppt/media/image17.jpg" Id="rId2" /><Relationship Type="http://schemas.openxmlformats.org/officeDocument/2006/relationships/image" Target="/ppt/media/image18.jp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19.jpg" Id="rId2" /><Relationship Type="http://schemas.openxmlformats.org/officeDocument/2006/relationships/image" Target="/ppt/media/image20.jp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21.jp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Relationship Type="http://schemas.openxmlformats.org/officeDocument/2006/relationships/image" Target="/ppt/media/image22.jpg" Id="rI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image" Target="/ppt/media/image23.jpg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Relationship Type="http://schemas.openxmlformats.org/officeDocument/2006/relationships/image" Target="/ppt/media/image24.jpg" Id="rI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Id1" /><Relationship Type="http://schemas.openxmlformats.org/officeDocument/2006/relationships/image" Target="/ppt/media/image5.png" Id="rId2" /><Relationship Type="http://schemas.openxmlformats.org/officeDocument/2006/relationships/image" Target="/ppt/media/image25.jpg" Id="rId3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000000">
              <a:alpha val="4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920750" y="1936750"/>
            <a:ext cx="5270500" cy="1206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7200"/>
              </a:lnSpc>
            </a:pPr>
            <a:r>
              <a:rPr lang="zh-CN" altLang="en-US" sz="4800" b="1" i="0" dirty="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</a:rPr>
              <a:t>石钟山记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1016000" y="3429000"/>
            <a:ext cx="76200" cy="889000"/>
          </a:xfrm>
          <a:prstGeom prst="roundRect"/>
          <a:solidFill>
            <a:srgbClr val="B91C1C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2"/>
          <p:cNvSpPr txBox="1"/>
          <p:nvPr/>
        </p:nvSpPr>
        <p:spPr>
          <a:xfrm>
            <a:off x="1301750" y="3333750"/>
            <a:ext cx="4000500" cy="1079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200"/>
              </a:lnSpc>
            </a:pPr>
            <a:r>
              <a:rPr lang="zh-CN" altLang="en-US" sz="2800" b="0" i="0" dirty="0">
                <a:solidFill>
                  <a:srgbClr val="FFFFFF">
                    <a:alpha val="94901"/>
                  </a:srgbClr>
                </a:solidFill>
                <a:latin typeface="Noto Sans SC"/>
                <a:ea typeface="Noto Sans SC"/>
              </a:rPr>
              <a:t>第二课时</a:t>
            </a:r>
          </a:p>
        </p:txBody>
      </p:sp>
      <p:sp>
        <p:nvSpPr>
          <p:cNvPr id="6" name="文本3"/>
          <p:cNvSpPr txBox="1"/>
          <p:nvPr/>
        </p:nvSpPr>
        <p:spPr>
          <a:xfrm>
            <a:off x="920750" y="4601597"/>
            <a:ext cx="7810500" cy="133780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9000"/>
              </a:lnSpc>
            </a:pPr>
            <a:r>
              <a:rPr lang="zh-CN" altLang="en-US" sz="6000" b="1" i="0" dirty="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</a:rPr>
              <a:t>探究与赏析</a:t>
            </a:r>
          </a:p>
        </p:txBody>
      </p:sp>
      <p:sp>
        <p:nvSpPr>
          <p:cNvPr id="7" name="文本4"/>
          <p:cNvSpPr txBox="1"/>
          <p:nvPr/>
        </p:nvSpPr>
        <p:spPr>
          <a:xfrm>
            <a:off x="920750" y="5746750"/>
            <a:ext cx="2730500" cy="698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700"/>
              </a:lnSpc>
            </a:pPr>
            <a:r>
              <a:rPr lang="zh-CN" altLang="en-US" sz="1800" b="0" i="0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</a:rPr>
              <a:t>[ 宋 ] 苏轼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课堂互动（一）：补画想象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4318000" cy="4318000"/>
          </a:xfrm>
          <a:prstGeom prst="rect">
            <a:avLst/>
          </a:prstGeom>
          <a:ln w="25400">
            <a:solidFill>
              <a:srgbClr val="444444">
                <a:alpha val="100000"/>
              </a:srgbClr>
            </a:solidFill>
            <a:prstDash val="solid"/>
          </a:ln>
        </p:spPr>
      </p:pic>
      <p:sp>
        <p:nvSpPr>
          <p:cNvPr id="4" name="形状1"/>
          <p:cNvSpPr txBox="1"/>
          <p:nvPr/>
        </p:nvSpPr>
        <p:spPr>
          <a:xfrm>
            <a:off x="5588000" y="1778000"/>
            <a:ext cx="5842000" cy="4318000"/>
          </a:xfrm>
          <a:prstGeom prst="roundRect"/>
          <a:solidFill>
            <a:srgbClr val="FFFFFF">
              <a:alpha val="87843"/>
            </a:srgbClr>
          </a:solidFill>
          <a:ln w="12700">
            <a:solidFill>
              <a:srgbClr val="D9D9D9">
                <a:alpha val="8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5" name="文本2"/>
          <p:cNvSpPr txBox="1"/>
          <p:nvPr/>
        </p:nvSpPr>
        <p:spPr>
          <a:xfrm>
            <a:off x="5797550" y="1987550"/>
            <a:ext cx="5422900" cy="698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300"/>
              </a:lnSpc>
            </a:pPr>
            <a:r>
              <a:rPr lang="zh-CN" altLang="en-US" sz="21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陆俨少 · 《石钟山记》图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2921000"/>
            <a:ext cx="279400" cy="279400"/>
          </a:xfrm>
          <a:prstGeom prst="rect">
            <a:avLst/>
          </a:prstGeom>
        </p:spPr>
      </p:pic>
      <p:sp>
        <p:nvSpPr>
          <p:cNvPr id="7" name="文本3"/>
          <p:cNvSpPr txBox="1"/>
          <p:nvPr/>
        </p:nvSpPr>
        <p:spPr>
          <a:xfrm>
            <a:off x="6254750" y="2722547"/>
            <a:ext cx="5016500" cy="1616106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6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观察与回顾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4B5563">
                    <a:alpha val="100000"/>
                  </a:srgbClr>
                </a:solidFill>
                <a:latin typeface="Noto Sans SC"/>
                <a:ea typeface="Noto Sans SC"/>
              </a:rPr>
              <a:t>请同学们仔细观察画中的山石、舟船与水面，再翻开课本，重读第二自然段中苏轼夜乘小舟至绝壁下的描写。</a:t>
            </a:r>
          </a:p>
        </p:txBody>
      </p:sp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0" y="4445000"/>
            <a:ext cx="279400" cy="279400"/>
          </a:xfrm>
          <a:prstGeom prst="rect">
            <a:avLst/>
          </a:prstGeom>
        </p:spPr>
      </p:pic>
      <p:sp>
        <p:nvSpPr>
          <p:cNvPr id="9" name="文本4"/>
          <p:cNvSpPr txBox="1"/>
          <p:nvPr/>
        </p:nvSpPr>
        <p:spPr>
          <a:xfrm>
            <a:off x="6076315" y="4148934"/>
            <a:ext cx="5448300" cy="1938332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6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思考与补画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4B5563">
                    <a:alpha val="100000"/>
                  </a:srgbClr>
                </a:solidFill>
                <a:latin typeface="Noto Sans SC"/>
                <a:ea typeface="Noto Sans SC"/>
              </a:rPr>
              <a:t>对比之下，你觉得画家陆俨少先生省略了哪些在苏轼笔下非常精彩的内容？如果让你为这幅画做“补笔”，你会添上什么景物或细节，来还原“石钟山”的奇景与奇声？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古诗词1"/>
          <p:cNvPicPr>
            <a:picLocks noChangeAspect="1"/>
          </p:cNvPicPr>
          <p:nvPr/>
        </p:nvPicPr>
        <p:blipFill>
          <a:fillRect/>
          <a:blip r:embed="rId2"/>
          <a:stretch/>
        </p:blipFill>
        <p:spPr>
          <a:xfrm>
            <a:off x="190500" y="0"/>
            <a:ext cx="118110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课堂互动（二）：批注探源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4318000" cy="4318000"/>
          </a:xfrm>
          <a:prstGeom prst="rect">
            <a:avLst/>
          </a:prstGeom>
          <a:ln w="50800">
            <a:solidFill>
              <a:srgbClr val="FFFFFF">
                <a:alpha val="100000"/>
              </a:srgbClr>
            </a:solidFill>
            <a:prstDash val="solid"/>
          </a:ln>
        </p:spPr>
      </p:pic>
      <p:sp>
        <p:nvSpPr>
          <p:cNvPr id="4" name="形状1"/>
          <p:cNvSpPr txBox="1"/>
          <p:nvPr/>
        </p:nvSpPr>
        <p:spPr>
          <a:xfrm>
            <a:off x="5588000" y="1778000"/>
            <a:ext cx="5842000" cy="4318000"/>
          </a:xfrm>
          <a:prstGeom prst="roundRect"/>
          <a:solidFill>
            <a:srgbClr val="FDFBF7">
              <a:alpha val="94901"/>
            </a:srgbClr>
          </a:solidFill>
          <a:ln w="12700">
            <a:solidFill>
              <a:srgbClr val="B4A08C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5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2159000"/>
            <a:ext cx="355600" cy="355600"/>
          </a:xfrm>
          <a:prstGeom prst="rect">
            <a:avLst/>
          </a:prstGeom>
        </p:spPr>
      </p:pic>
      <p:sp>
        <p:nvSpPr>
          <p:cNvPr id="6" name="文本2"/>
          <p:cNvSpPr txBox="1"/>
          <p:nvPr/>
        </p:nvSpPr>
        <p:spPr>
          <a:xfrm>
            <a:off x="6381750" y="2037486"/>
            <a:ext cx="4762500" cy="64942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6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闻声寻源 · 探究石钟山名之由来</a:t>
            </a:r>
          </a:p>
        </p:txBody>
      </p:sp>
      <p:sp>
        <p:nvSpPr>
          <p:cNvPr id="7" name="形状2"/>
          <p:cNvSpPr txBox="1"/>
          <p:nvPr/>
        </p:nvSpPr>
        <p:spPr>
          <a:xfrm>
            <a:off x="5969000" y="3048000"/>
            <a:ext cx="5080000" cy="1397000"/>
          </a:xfrm>
          <a:prstGeom prst="roundRect"/>
          <a:solidFill>
            <a:srgbClr val="EEEBE6">
              <a:alpha val="69803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文本3"/>
          <p:cNvSpPr txBox="1"/>
          <p:nvPr/>
        </p:nvSpPr>
        <p:spPr>
          <a:xfrm>
            <a:off x="6127750" y="2915900"/>
            <a:ext cx="4762500" cy="16612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424242">
                    <a:alpha val="100000"/>
                  </a:srgbClr>
                </a:solidFill>
                <a:latin typeface="Noto Sans SC"/>
                <a:ea typeface="Noto Sans SC"/>
              </a:rPr>
              <a:t>❓ 核心追问：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505050">
                    <a:alpha val="100000"/>
                  </a:srgbClr>
                </a:solidFill>
                <a:latin typeface="Noto Sans SC"/>
                <a:ea typeface="Noto Sans SC"/>
              </a:rPr>
              <a:t>苏轼夜泊绝壁之下，究竟听到了哪几种怪异的声音？“噌吰如钟鼓不绝”与“窾坎镗鞳”之声，分别源自何处？</a:t>
            </a:r>
          </a:p>
        </p:txBody>
      </p:sp>
      <p:sp>
        <p:nvSpPr>
          <p:cNvPr id="9" name="形状3"/>
          <p:cNvSpPr txBox="1"/>
          <p:nvPr/>
        </p:nvSpPr>
        <p:spPr>
          <a:xfrm>
            <a:off x="5969000" y="4699000"/>
            <a:ext cx="5080000" cy="1270000"/>
          </a:xfrm>
          <a:prstGeom prst="roundRect"/>
          <a:solidFill>
            <a:srgbClr val="F8F2E6">
              <a:alpha val="89803"/>
            </a:srgbClr>
          </a:solidFill>
          <a:ln w="12700">
            <a:solidFill>
              <a:srgbClr val="B8860B">
                <a:alpha val="60000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6127750" y="4623198"/>
            <a:ext cx="4762500" cy="1421604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000"/>
              </a:lnSpc>
            </a:pPr>
            <a:r>
              <a:rPr lang="zh-CN" altLang="en-US" sz="1600" b="1" i="0" dirty="0">
                <a:solidFill>
                  <a:srgbClr val="A0522D">
                    <a:alpha val="100000"/>
                  </a:srgbClr>
                </a:solidFill>
                <a:latin typeface="Noto Sans SC"/>
                <a:ea typeface="Noto Sans SC"/>
              </a:rPr>
              <a:t>✎ 课堂任务：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464646">
                    <a:alpha val="100000"/>
                  </a:srgbClr>
                </a:solidFill>
                <a:latin typeface="Noto Sans SC"/>
                <a:ea typeface="Noto Sans SC"/>
              </a:rPr>
              <a:t>请大家结合课文语句，在左侧的《石钟山》画作上，尝试用文字或简单符号，批注出你找到的“声源”位置与对应的声音特点。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FFFFFF">
              <a:alpha val="49803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探索过程梳理表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762000" y="1651000"/>
            <a:ext cx="3302000" cy="2222500"/>
          </a:xfrm>
          <a:prstGeom prst="roundRect"/>
          <a:solidFill>
            <a:srgbClr val="FCFAF6">
              <a:alpha val="94901"/>
            </a:srgbClr>
          </a:solidFill>
          <a:ln w="12700">
            <a:solidFill>
              <a:srgbClr val="555555">
                <a:alpha val="2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5" name="文本2"/>
          <p:cNvSpPr txBox="1"/>
          <p:nvPr/>
        </p:nvSpPr>
        <p:spPr>
          <a:xfrm>
            <a:off x="793750" y="1746250"/>
            <a:ext cx="3238500" cy="20320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2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🔨 寺僧使小童持斧扣石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声音：</a:t>
            </a:r>
            <a:r>
              <a:rPr lang="zh-CN" altLang="en-US" sz="1800" b="1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硿硿焉</a:t>
            </a: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，清脆的敲击声</a:t>
            </a:r>
          </a:p>
          <a:p>
            <a:pPr marL="0" algn="l">
              <a:lnSpc>
                <a:spcPts val="2300"/>
              </a:lnSpc>
            </a:pPr>
            <a:r>
              <a:rPr lang="zh-CN" altLang="en-US" sz="1800" b="1" i="0" dirty="0">
                <a:solidFill>
                  <a:srgbClr val="A63C28">
                    <a:alpha val="100000"/>
                  </a:srgbClr>
                </a:solidFill>
                <a:latin typeface="Noto Sans SC"/>
                <a:ea typeface="Noto Sans SC"/>
              </a:rPr>
              <a:t>💡 笑而不信</a:t>
            </a:r>
            <a:r>
              <a:rPr lang="zh-CN" altLang="en-US" sz="1800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—— 对浅尝辄止、不求甚解的做法，表轻蔑与否定。</a:t>
            </a:r>
          </a:p>
        </p:txBody>
      </p:sp>
      <p:sp>
        <p:nvSpPr>
          <p:cNvPr id="6" name="形状3"/>
          <p:cNvSpPr txBox="1"/>
          <p:nvPr/>
        </p:nvSpPr>
        <p:spPr>
          <a:xfrm>
            <a:off x="4445000" y="1651000"/>
            <a:ext cx="3302000" cy="2222500"/>
          </a:xfrm>
          <a:prstGeom prst="roundRect"/>
          <a:solidFill>
            <a:srgbClr val="FCFAF6">
              <a:alpha val="94901"/>
            </a:srgbClr>
          </a:solidFill>
          <a:ln w="12700">
            <a:solidFill>
              <a:srgbClr val="555555">
                <a:alpha val="2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7" name="文本3"/>
          <p:cNvSpPr txBox="1"/>
          <p:nvPr/>
        </p:nvSpPr>
        <p:spPr>
          <a:xfrm>
            <a:off x="4476750" y="1733254"/>
            <a:ext cx="3238500" cy="205799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2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🦅 山上栖鹘被惊起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声音：</a:t>
            </a:r>
            <a:r>
              <a:rPr lang="zh-CN" altLang="en-US" sz="1800" b="1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磔磔云霄间</a:t>
            </a: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，凄厉尖锐的鸟鸣声</a:t>
            </a:r>
          </a:p>
          <a:p>
            <a:pPr marL="0" algn="l">
              <a:lnSpc>
                <a:spcPts val="2300"/>
              </a:lnSpc>
            </a:pPr>
            <a:r>
              <a:rPr lang="zh-CN" altLang="en-US" sz="1800" b="1" i="0" dirty="0">
                <a:solidFill>
                  <a:srgbClr val="A63C28">
                    <a:alpha val="100000"/>
                  </a:srgbClr>
                </a:solidFill>
                <a:latin typeface="Noto Sans SC"/>
                <a:ea typeface="Noto Sans SC"/>
              </a:rPr>
              <a:t>💡 心动欲还</a:t>
            </a:r>
            <a:r>
              <a:rPr lang="zh-CN" altLang="en-US" sz="1800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—— 环境阴森，鸟鸣凄厉，心生恐惧，顿生退意。</a:t>
            </a:r>
          </a:p>
        </p:txBody>
      </p:sp>
      <p:sp>
        <p:nvSpPr>
          <p:cNvPr id="8" name="形状4"/>
          <p:cNvSpPr txBox="1"/>
          <p:nvPr/>
        </p:nvSpPr>
        <p:spPr>
          <a:xfrm>
            <a:off x="8128000" y="1651000"/>
            <a:ext cx="3302000" cy="2222500"/>
          </a:xfrm>
          <a:prstGeom prst="roundRect"/>
          <a:solidFill>
            <a:srgbClr val="FCFAF6">
              <a:alpha val="94901"/>
            </a:srgbClr>
          </a:solidFill>
          <a:ln w="12700">
            <a:solidFill>
              <a:srgbClr val="555555">
                <a:alpha val="2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9" name="文本4"/>
          <p:cNvSpPr txBox="1"/>
          <p:nvPr/>
        </p:nvSpPr>
        <p:spPr>
          <a:xfrm>
            <a:off x="8159750" y="1733254"/>
            <a:ext cx="3238500" cy="205799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2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🦆 山谷中鹳鹤的叫声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声音：</a:t>
            </a:r>
            <a:r>
              <a:rPr lang="zh-CN" altLang="en-US" sz="1800" b="1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若老人咳且笑于山谷中</a:t>
            </a: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，怪异而恐怖</a:t>
            </a:r>
          </a:p>
          <a:p>
            <a:pPr marL="0" algn="l">
              <a:lnSpc>
                <a:spcPts val="2300"/>
              </a:lnSpc>
            </a:pPr>
            <a:r>
              <a:rPr lang="zh-CN" altLang="en-US" sz="1800" b="1" i="0" dirty="0">
                <a:solidFill>
                  <a:srgbClr val="A63C28">
                    <a:alpha val="100000"/>
                  </a:srgbClr>
                </a:solidFill>
                <a:latin typeface="Noto Sans SC"/>
                <a:ea typeface="Noto Sans SC"/>
              </a:rPr>
              <a:t>💡 心动欲还</a:t>
            </a:r>
            <a:r>
              <a:rPr lang="zh-CN" altLang="en-US" sz="1800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—— 怪声加剧了恐怖感，更坚定了他即刻返回的念头。</a:t>
            </a:r>
          </a:p>
        </p:txBody>
      </p:sp>
      <p:sp>
        <p:nvSpPr>
          <p:cNvPr id="10" name="形状5"/>
          <p:cNvSpPr txBox="1"/>
          <p:nvPr/>
        </p:nvSpPr>
        <p:spPr>
          <a:xfrm>
            <a:off x="1905000" y="4191000"/>
            <a:ext cx="4064000" cy="2222500"/>
          </a:xfrm>
          <a:prstGeom prst="roundRect"/>
          <a:solidFill>
            <a:srgbClr val="FCFAF6">
              <a:alpha val="94901"/>
            </a:srgbClr>
          </a:solidFill>
          <a:ln w="12700">
            <a:solidFill>
              <a:srgbClr val="555555">
                <a:alpha val="2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11" name="文本5"/>
          <p:cNvSpPr txBox="1"/>
          <p:nvPr/>
        </p:nvSpPr>
        <p:spPr>
          <a:xfrm>
            <a:off x="2000250" y="4154845"/>
            <a:ext cx="3873500" cy="2294809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🌊 山下石穴罅被微波涌入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声音：</a:t>
            </a:r>
            <a:r>
              <a:rPr lang="zh-CN" altLang="en-US" sz="2000" b="1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噌吰如钟鼓不绝</a:t>
            </a:r>
            <a:r>
              <a:rPr lang="zh-CN" altLang="en-US" sz="20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，宏大、连绵的声响</a:t>
            </a:r>
          </a:p>
          <a:p>
            <a:pPr marL="0" algn="l">
              <a:lnSpc>
                <a:spcPts val="2600"/>
              </a:lnSpc>
            </a:pPr>
            <a:r>
              <a:rPr lang="zh-CN" altLang="en-US" sz="2000" b="1" i="0" dirty="0">
                <a:solidFill>
                  <a:srgbClr val="A63C28">
                    <a:alpha val="100000"/>
                  </a:srgbClr>
                </a:solidFill>
                <a:latin typeface="Noto Sans SC"/>
                <a:ea typeface="Noto Sans SC"/>
              </a:rPr>
              <a:t>💡 徐而察之</a:t>
            </a:r>
            <a:r>
              <a:rPr lang="zh-CN" altLang="en-US" sz="2000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—— 巨大声响吸引了注意力，暂时忘记恐惧，开始冷静探寻声源。</a:t>
            </a:r>
          </a:p>
        </p:txBody>
      </p:sp>
      <p:sp>
        <p:nvSpPr>
          <p:cNvPr id="12" name="形状6"/>
          <p:cNvSpPr txBox="1"/>
          <p:nvPr/>
        </p:nvSpPr>
        <p:spPr>
          <a:xfrm>
            <a:off x="6223000" y="4191000"/>
            <a:ext cx="4064000" cy="2222500"/>
          </a:xfrm>
          <a:prstGeom prst="roundRect"/>
          <a:solidFill>
            <a:srgbClr val="FCFAF6">
              <a:alpha val="94901"/>
            </a:srgbClr>
          </a:solidFill>
          <a:ln w="12700">
            <a:solidFill>
              <a:srgbClr val="555555">
                <a:alpha val="2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13" name="文本6"/>
          <p:cNvSpPr txBox="1"/>
          <p:nvPr/>
        </p:nvSpPr>
        <p:spPr>
          <a:xfrm>
            <a:off x="6318250" y="4273254"/>
            <a:ext cx="3873500" cy="205799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2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🪨 中流大石与风水相吞吐</a:t>
            </a:r>
          </a:p>
          <a:p>
            <a:pPr marL="0" algn="l">
              <a:lnSpc>
                <a:spcPts val="2500"/>
              </a:lnSpc>
            </a:pPr>
            <a:r>
              <a:rPr lang="zh-CN" altLang="en-US" sz="1800" b="0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声音：</a:t>
            </a:r>
            <a:r>
              <a:rPr lang="zh-CN" altLang="en-US" sz="1800" b="1" i="0" dirty="0">
                <a:solidFill>
                  <a:srgbClr val="5A5A5A">
                    <a:alpha val="100000"/>
                  </a:srgbClr>
                </a:solidFill>
                <a:latin typeface="Noto Sans SC"/>
                <a:ea typeface="Noto Sans SC"/>
              </a:rPr>
              <a:t>窾坎镗鞳之声，与向之噌吰者相应，如乐作焉</a:t>
            </a:r>
          </a:p>
          <a:p>
            <a:pPr marL="0" algn="l">
              <a:lnSpc>
                <a:spcPts val="2300"/>
              </a:lnSpc>
            </a:pPr>
            <a:r>
              <a:rPr lang="zh-CN" altLang="en-US" sz="1800" b="1" i="0" dirty="0">
                <a:solidFill>
                  <a:srgbClr val="A63C28">
                    <a:alpha val="100000"/>
                  </a:srgbClr>
                </a:solidFill>
                <a:latin typeface="Noto Sans SC"/>
                <a:ea typeface="Noto Sans SC"/>
              </a:rPr>
              <a:t>💡 因笑谓迈</a:t>
            </a:r>
            <a:r>
              <a:rPr lang="zh-CN" altLang="en-US" sz="1800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—— 探明真相后恍然大悟，发出得意释然的笑，并向儿子苏迈解释缘由。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FFFFFF">
              <a:alpha val="6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声音辨析：“窾坎镗鞳”与“噌吰”谁更洪亮？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762000" y="1207135"/>
            <a:ext cx="10668000" cy="558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2"/>
          <p:cNvSpPr txBox="1"/>
          <p:nvPr/>
        </p:nvSpPr>
        <p:spPr>
          <a:xfrm>
            <a:off x="667385" y="1111885"/>
            <a:ext cx="108585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2700"/>
              </a:lnSpc>
            </a:pPr>
            <a:r>
              <a:rPr lang="zh-CN" altLang="en-US" sz="1800" b="1" i="0" dirty="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</a:rPr>
              <a:t>💡 结论：“噌吰”之声更为洪亮，源于山体共鸣的低频轰鸣</a:t>
            </a:r>
          </a:p>
        </p:txBody>
      </p:sp>
      <p:sp>
        <p:nvSpPr>
          <p:cNvPr id="6" name="形状3"/>
          <p:cNvSpPr txBox="1"/>
          <p:nvPr/>
        </p:nvSpPr>
        <p:spPr>
          <a:xfrm>
            <a:off x="762000" y="2286000"/>
            <a:ext cx="5207000" cy="4064000"/>
          </a:xfrm>
          <a:prstGeom prst="roundRect"/>
          <a:solidFill>
            <a:srgbClr val="FFFFFF">
              <a:alpha val="94901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540000"/>
            <a:ext cx="1524000" cy="1524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8" name="文本3"/>
          <p:cNvSpPr txBox="1"/>
          <p:nvPr/>
        </p:nvSpPr>
        <p:spPr>
          <a:xfrm>
            <a:off x="2571750" y="2445385"/>
            <a:ext cx="3238500" cy="334835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噌吰（chēng hóng）</a:t>
            </a:r>
          </a:p>
          <a:p>
            <a:pPr marL="0" algn="l">
              <a:lnSpc>
                <a:spcPts val="3600"/>
              </a:lnSpc>
            </a:pPr>
            <a:r>
              <a:rPr lang="zh-CN" altLang="en-US" sz="1400" b="0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🗝️ </a:t>
            </a:r>
            <a:r>
              <a:rPr lang="zh-CN" altLang="en-US" sz="2400" b="0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比喻：周景王之</a:t>
            </a:r>
            <a:r>
              <a:rPr lang="zh-CN" altLang="en-US" sz="2400" b="1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无射 (大钟)</a:t>
            </a:r>
          </a:p>
          <a:p>
            <a:pPr marL="0" algn="l">
              <a:lnSpc>
                <a:spcPts val="3300"/>
              </a:lnSpc>
            </a:pPr>
            <a:r>
              <a:rPr lang="zh-CN" altLang="en-US" sz="2400" b="0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📍 来源：山下石穴罅，微波入焉，涵淡澎湃。</a:t>
            </a:r>
          </a:p>
        </p:txBody>
      </p:sp>
      <p:sp>
        <p:nvSpPr>
          <p:cNvPr id="9" name="形状4"/>
          <p:cNvSpPr txBox="1"/>
          <p:nvPr/>
        </p:nvSpPr>
        <p:spPr>
          <a:xfrm>
            <a:off x="6223000" y="2286000"/>
            <a:ext cx="5207000" cy="4064000"/>
          </a:xfrm>
          <a:prstGeom prst="roundRect"/>
          <a:solidFill>
            <a:srgbClr val="FFFFFF">
              <a:alpha val="94901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" t="9992" r="0" b="10066"/>
          <a:stretch>
            <a:fillRect/>
          </a:stretch>
        </p:blipFill>
        <p:spPr>
          <a:xfrm>
            <a:off x="6413500" y="2540000"/>
            <a:ext cx="1524000" cy="1524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11" name="文本4"/>
          <p:cNvSpPr txBox="1"/>
          <p:nvPr/>
        </p:nvSpPr>
        <p:spPr>
          <a:xfrm>
            <a:off x="8032750" y="2387327"/>
            <a:ext cx="3187700" cy="337684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窾坎镗鞳 (kuǎn kǎn tāng tà)</a:t>
            </a:r>
          </a:p>
          <a:p>
            <a:pPr marL="0" algn="l">
              <a:lnSpc>
                <a:spcPts val="3600"/>
              </a:lnSpc>
            </a:pPr>
            <a:r>
              <a:rPr lang="zh-CN" altLang="en-US" sz="1800" b="0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🗝️</a:t>
            </a:r>
            <a:r>
              <a:rPr lang="zh-CN" altLang="en-US" sz="2400" b="0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 比喻：魏庄子之</a:t>
            </a:r>
            <a:r>
              <a:rPr lang="zh-CN" altLang="en-US" sz="2400" b="1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歌钟 (编钟)</a:t>
            </a:r>
          </a:p>
          <a:p>
            <a:pPr marL="0" algn="l">
              <a:lnSpc>
                <a:spcPts val="3300"/>
              </a:lnSpc>
            </a:pPr>
            <a:r>
              <a:rPr lang="zh-CN" altLang="en-US" sz="2400" b="0" i="0" dirty="0">
                <a:solidFill>
                  <a:srgbClr val="666666">
                    <a:alpha val="100000"/>
                  </a:srgbClr>
                </a:solidFill>
                <a:latin typeface="Noto Sans SC"/>
                <a:ea typeface="Noto Sans SC"/>
              </a:rPr>
              <a:t>📍 来源：中流大石，空中多窍，与风水相吞吐。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FFFFFF">
              <a:alpha val="6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声音辨析：“窾坎镗鞳”与“噌吰”谁更洪亮？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762000" y="1207135"/>
            <a:ext cx="10668000" cy="558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2"/>
          <p:cNvSpPr txBox="1"/>
          <p:nvPr/>
        </p:nvSpPr>
        <p:spPr>
          <a:xfrm>
            <a:off x="667385" y="1111885"/>
            <a:ext cx="108585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2700"/>
              </a:lnSpc>
            </a:pPr>
            <a:r>
              <a:rPr lang="zh-CN" altLang="en-US" sz="1800" b="1" i="0" dirty="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</a:rPr>
              <a:t>声音的产生（振动源与能量）</a:t>
            </a:r>
          </a:p>
        </p:txBody>
      </p:sp>
      <p:sp>
        <p:nvSpPr>
          <p:cNvPr id="6" name="形状3"/>
          <p:cNvSpPr txBox="1"/>
          <p:nvPr/>
        </p:nvSpPr>
        <p:spPr>
          <a:xfrm>
            <a:off x="762000" y="2286000"/>
            <a:ext cx="5207000" cy="4064000"/>
          </a:xfrm>
          <a:prstGeom prst="roundRect"/>
          <a:solidFill>
            <a:srgbClr val="FFFFFF">
              <a:alpha val="94901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540000"/>
            <a:ext cx="1524000" cy="1524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8" name="文本3"/>
          <p:cNvSpPr txBox="1"/>
          <p:nvPr/>
        </p:nvSpPr>
        <p:spPr>
          <a:xfrm>
            <a:off x="2571750" y="2444750"/>
            <a:ext cx="3238500" cy="1714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2199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噌吰（chēng hóng）</a:t>
            </a:r>
          </a:p>
          <a:p>
            <a:pPr marL="0" algn="l"/>
          </a:p>
        </p:txBody>
      </p:sp>
      <p:sp>
        <p:nvSpPr>
          <p:cNvPr id="9" name="形状4"/>
          <p:cNvSpPr txBox="1"/>
          <p:nvPr/>
        </p:nvSpPr>
        <p:spPr>
          <a:xfrm>
            <a:off x="952500" y="4318000"/>
            <a:ext cx="4826000" cy="1778000"/>
          </a:xfrm>
          <a:prstGeom prst="roundRect"/>
          <a:solidFill>
            <a:srgbClr val="F9F9F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1094740" y="3910727"/>
            <a:ext cx="4652010" cy="233854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环境：山下深邃的“石穴罅”（深宽的石缝和洞穴）。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物理机制：巨大的水流（微波、波浪）源源不断地涌入狭窄的石穴。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结果：巨大的动能转化为水和空气剧烈的迫振振动，初始能量极大。</a:t>
            </a:r>
          </a:p>
        </p:txBody>
      </p:sp>
      <p:sp>
        <p:nvSpPr>
          <p:cNvPr id="11" name="形状5"/>
          <p:cNvSpPr txBox="1"/>
          <p:nvPr/>
        </p:nvSpPr>
        <p:spPr>
          <a:xfrm>
            <a:off x="6223000" y="2286000"/>
            <a:ext cx="5207000" cy="4064000"/>
          </a:xfrm>
          <a:prstGeom prst="roundRect"/>
          <a:solidFill>
            <a:srgbClr val="FFFFFF">
              <a:alpha val="94901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12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" t="9992" r="0" b="10066"/>
          <a:stretch>
            <a:fillRect/>
          </a:stretch>
        </p:blipFill>
        <p:spPr>
          <a:xfrm>
            <a:off x="6413500" y="2540000"/>
            <a:ext cx="1524000" cy="1524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13" name="文本5"/>
          <p:cNvSpPr txBox="1"/>
          <p:nvPr/>
        </p:nvSpPr>
        <p:spPr>
          <a:xfrm>
            <a:off x="8032750" y="2444750"/>
            <a:ext cx="3493135" cy="228409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窾坎镗鞳 (kuǎn kǎn tāng tà)</a:t>
            </a:r>
          </a:p>
          <a:p>
            <a:pPr marL="0" algn="l"/>
          </a:p>
        </p:txBody>
      </p:sp>
      <p:sp>
        <p:nvSpPr>
          <p:cNvPr id="14" name="形状6"/>
          <p:cNvSpPr txBox="1"/>
          <p:nvPr/>
        </p:nvSpPr>
        <p:spPr>
          <a:xfrm>
            <a:off x="6413500" y="4318000"/>
            <a:ext cx="4826000" cy="1778000"/>
          </a:xfrm>
          <a:prstGeom prst="roundRect"/>
          <a:solidFill>
            <a:srgbClr val="F9F9F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文本6"/>
          <p:cNvSpPr txBox="1"/>
          <p:nvPr/>
        </p:nvSpPr>
        <p:spPr>
          <a:xfrm>
            <a:off x="6572250" y="3910727"/>
            <a:ext cx="4762500" cy="233854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环境：江心一块孤立大石的“小孔（窍）”。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物理机制：仅靠风和水流摩擦、吞吐小孔中的空气。</a:t>
            </a:r>
          </a:p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结果：由于小孔体积有限，参与振动的空气质量小，产生的初始声波能量较低。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0" grpId="0" animBg="1"/>
      <p:bldP spid="15" grpId="0" animBg="1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FFFFFF">
              <a:alpha val="6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声音辨析：“窾坎镗鞳”与“噌吰”谁更洪亮？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762000" y="1207135"/>
            <a:ext cx="10668000" cy="558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2"/>
          <p:cNvSpPr txBox="1"/>
          <p:nvPr/>
        </p:nvSpPr>
        <p:spPr>
          <a:xfrm>
            <a:off x="667385" y="1111885"/>
            <a:ext cx="108585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2700"/>
              </a:lnSpc>
            </a:pPr>
            <a:r>
              <a:rPr lang="zh-CN" altLang="en-US" sz="1800" b="1" i="0" dirty="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</a:rPr>
              <a:t>声波的传播（共鸣放大效应）</a:t>
            </a:r>
          </a:p>
        </p:txBody>
      </p:sp>
      <p:sp>
        <p:nvSpPr>
          <p:cNvPr id="6" name="形状3"/>
          <p:cNvSpPr txBox="1"/>
          <p:nvPr/>
        </p:nvSpPr>
        <p:spPr>
          <a:xfrm>
            <a:off x="762000" y="2286000"/>
            <a:ext cx="5207000" cy="4064000"/>
          </a:xfrm>
          <a:prstGeom prst="roundRect"/>
          <a:solidFill>
            <a:srgbClr val="FFFFFF">
              <a:alpha val="94901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540000"/>
            <a:ext cx="1524000" cy="1524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8" name="文本3"/>
          <p:cNvSpPr txBox="1"/>
          <p:nvPr/>
        </p:nvSpPr>
        <p:spPr>
          <a:xfrm>
            <a:off x="2571750" y="2399403"/>
            <a:ext cx="3238500" cy="180519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2199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噌吰（chēng hóng）</a:t>
            </a:r>
          </a:p>
          <a:p>
            <a:pPr marL="0" algn="l">
              <a:lnSpc>
                <a:spcPts val="2600"/>
              </a:lnSpc>
            </a:pPr>
            <a:r>
              <a:rPr lang="zh-CN" altLang="en-US" sz="2199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山下的石穴内部空旷且“不知其浅深”，有共鸣箱。</a:t>
            </a:r>
          </a:p>
          <a:p>
            <a:pPr marL="0" algn="l"/>
          </a:p>
        </p:txBody>
      </p:sp>
      <p:sp>
        <p:nvSpPr>
          <p:cNvPr id="9" name="形状4"/>
          <p:cNvSpPr txBox="1"/>
          <p:nvPr/>
        </p:nvSpPr>
        <p:spPr>
          <a:xfrm>
            <a:off x="952500" y="4318000"/>
            <a:ext cx="4826000" cy="1778000"/>
          </a:xfrm>
          <a:prstGeom prst="roundRect"/>
          <a:solidFill>
            <a:srgbClr val="F9F9F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1094740" y="4222750"/>
            <a:ext cx="4652010" cy="1714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当声波在封闭的石穴内反复反射时，引发了空气柱共振，声波振幅被显著放大。声波能量集中从洞口喷薄而出，因此听起来“如钟鼓不绝”，分外洪亮。</a:t>
            </a:r>
          </a:p>
        </p:txBody>
      </p:sp>
      <p:sp>
        <p:nvSpPr>
          <p:cNvPr id="11" name="形状5"/>
          <p:cNvSpPr txBox="1"/>
          <p:nvPr/>
        </p:nvSpPr>
        <p:spPr>
          <a:xfrm>
            <a:off x="6223000" y="2286000"/>
            <a:ext cx="5207000" cy="4064000"/>
          </a:xfrm>
          <a:prstGeom prst="roundRect"/>
          <a:solidFill>
            <a:srgbClr val="FFFFFF">
              <a:alpha val="94901"/>
            </a:srgbClr>
          </a:solidFill>
          <a:ln w="12700">
            <a:solidFill>
              <a:srgbClr val="D9D9D9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pic>
        <p:nvPicPr>
          <p:cNvPr id="12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" t="9992" r="0" b="10066"/>
          <a:stretch>
            <a:fillRect/>
          </a:stretch>
        </p:blipFill>
        <p:spPr>
          <a:xfrm>
            <a:off x="6413500" y="2540000"/>
            <a:ext cx="1524000" cy="1524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13" name="文本5"/>
          <p:cNvSpPr txBox="1"/>
          <p:nvPr/>
        </p:nvSpPr>
        <p:spPr>
          <a:xfrm>
            <a:off x="8032750" y="2444750"/>
            <a:ext cx="3493135" cy="228409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333333">
                    <a:alpha val="100000"/>
                  </a:srgbClr>
                </a:solidFill>
                <a:latin typeface="Noto Serif SC"/>
                <a:ea typeface="Noto Serif SC"/>
              </a:rPr>
              <a:t>窾坎镗鞳 (kuǎn kǎn tāng tà)无放大器</a:t>
            </a:r>
          </a:p>
          <a:p>
            <a:pPr marL="0" algn="l"/>
          </a:p>
        </p:txBody>
      </p:sp>
      <p:sp>
        <p:nvSpPr>
          <p:cNvPr id="14" name="形状6"/>
          <p:cNvSpPr txBox="1"/>
          <p:nvPr/>
        </p:nvSpPr>
        <p:spPr>
          <a:xfrm>
            <a:off x="6413500" y="4318000"/>
            <a:ext cx="4826000" cy="1778000"/>
          </a:xfrm>
          <a:prstGeom prst="roundRect"/>
          <a:solidFill>
            <a:srgbClr val="F9F9F9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文本6"/>
          <p:cNvSpPr txBox="1"/>
          <p:nvPr/>
        </p:nvSpPr>
        <p:spPr>
          <a:xfrm>
            <a:off x="6572250" y="4222750"/>
            <a:ext cx="4762500" cy="1714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大石位于“中流”（开阔的江面之上），石头内部虽空，但多窍且裸露在外。声音产生后迅速向四面八方色散、衰减</a:t>
            </a:r>
            <a:r>
              <a:rPr lang="zh-CN" altLang="en-US" sz="2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0" grpId="0" animBg="1"/>
      <p:bldP spid="15" grpId="0" animBg="1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FFFFFF">
              <a:alpha val="65098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666750" y="411674"/>
            <a:ext cx="10858500" cy="76415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苏轼对各类人物的评价梳理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777875" y="1524000"/>
            <a:ext cx="7207250" cy="118872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5" name="形状3"/>
          <p:cNvSpPr txBox="1"/>
          <p:nvPr/>
        </p:nvSpPr>
        <p:spPr>
          <a:xfrm>
            <a:off x="930275" y="1701800"/>
            <a:ext cx="812800" cy="812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文本2"/>
          <p:cNvSpPr txBox="1"/>
          <p:nvPr/>
        </p:nvSpPr>
        <p:spPr>
          <a:xfrm>
            <a:off x="835025" y="1733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叹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1825625" y="1417796"/>
            <a:ext cx="6260465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郦道元 · 叹惜记载不详 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“郦元之所见闻，殆与余同，而言之不详。”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（虽见闻相同，惜其记录简略，未能详述）</a:t>
            </a:r>
          </a:p>
        </p:txBody>
      </p:sp>
      <p:sp>
        <p:nvSpPr>
          <p:cNvPr id="8" name="形状4"/>
          <p:cNvSpPr txBox="1"/>
          <p:nvPr/>
        </p:nvSpPr>
        <p:spPr>
          <a:xfrm>
            <a:off x="777875" y="2857500"/>
            <a:ext cx="7366000" cy="1110615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9" name="形状5"/>
          <p:cNvSpPr txBox="1"/>
          <p:nvPr/>
        </p:nvSpPr>
        <p:spPr>
          <a:xfrm>
            <a:off x="930275" y="3035300"/>
            <a:ext cx="812800" cy="812800"/>
          </a:xfrm>
          <a:prstGeom prst="roundRect"/>
          <a:solidFill>
            <a:srgbClr val="A84420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835025" y="30670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讽</a:t>
            </a:r>
          </a:p>
        </p:txBody>
      </p:sp>
      <p:sp>
        <p:nvSpPr>
          <p:cNvPr id="11" name="文本5"/>
          <p:cNvSpPr txBox="1"/>
          <p:nvPr/>
        </p:nvSpPr>
        <p:spPr>
          <a:xfrm>
            <a:off x="1825625" y="2751296"/>
            <a:ext cx="6220460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士大夫 · 讥讽脱离实践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“终不肯以小舟夜泊绝壁之下，故莫能知。”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（空谈臆断，不肯亲历实地探索真相）</a:t>
            </a:r>
          </a:p>
        </p:txBody>
      </p:sp>
      <p:sp>
        <p:nvSpPr>
          <p:cNvPr id="12" name="形状6"/>
          <p:cNvSpPr txBox="1"/>
          <p:nvPr/>
        </p:nvSpPr>
        <p:spPr>
          <a:xfrm>
            <a:off x="777875" y="4191000"/>
            <a:ext cx="7366635" cy="97790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13" name="形状7"/>
          <p:cNvSpPr txBox="1"/>
          <p:nvPr/>
        </p:nvSpPr>
        <p:spPr>
          <a:xfrm>
            <a:off x="930275" y="4368800"/>
            <a:ext cx="812800" cy="812800"/>
          </a:xfrm>
          <a:prstGeom prst="roundRect"/>
          <a:solidFill>
            <a:srgbClr val="15803D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文本6"/>
          <p:cNvSpPr txBox="1"/>
          <p:nvPr/>
        </p:nvSpPr>
        <p:spPr>
          <a:xfrm>
            <a:off x="1063625" y="4412252"/>
            <a:ext cx="546100" cy="725896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憾</a:t>
            </a:r>
          </a:p>
        </p:txBody>
      </p:sp>
      <p:sp>
        <p:nvSpPr>
          <p:cNvPr id="15" name="文本7"/>
          <p:cNvSpPr txBox="1"/>
          <p:nvPr/>
        </p:nvSpPr>
        <p:spPr>
          <a:xfrm>
            <a:off x="1825625" y="4084796"/>
            <a:ext cx="6276975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渔工水师 · 遗憾有实无名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“虽知而不能言。”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（身处实地，深知真相，却无法用文字记录流传）</a:t>
            </a:r>
          </a:p>
        </p:txBody>
      </p:sp>
      <p:sp>
        <p:nvSpPr>
          <p:cNvPr id="16" name="形状8"/>
          <p:cNvSpPr txBox="1"/>
          <p:nvPr/>
        </p:nvSpPr>
        <p:spPr>
          <a:xfrm>
            <a:off x="777875" y="5397500"/>
            <a:ext cx="7366635" cy="116840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17" name="形状9"/>
          <p:cNvSpPr txBox="1"/>
          <p:nvPr/>
        </p:nvSpPr>
        <p:spPr>
          <a:xfrm>
            <a:off x="930275" y="5575300"/>
            <a:ext cx="812800" cy="812800"/>
          </a:xfrm>
          <a:prstGeom prst="roundRect"/>
          <a:solidFill>
            <a:srgbClr val="6B7280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8" name="文本8"/>
          <p:cNvSpPr txBox="1"/>
          <p:nvPr/>
        </p:nvSpPr>
        <p:spPr>
          <a:xfrm>
            <a:off x="835025" y="56070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笑</a:t>
            </a:r>
          </a:p>
        </p:txBody>
      </p:sp>
      <p:sp>
        <p:nvSpPr>
          <p:cNvPr id="19" name="文本9"/>
          <p:cNvSpPr txBox="1"/>
          <p:nvPr/>
        </p:nvSpPr>
        <p:spPr>
          <a:xfrm>
            <a:off x="1825625" y="5272881"/>
            <a:ext cx="6412865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陋者（李渤） · 嘲笑主观臆断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“以斧斤考击而求之，自以为得其实。”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（方法错误，却自以为是，实乃浅陋可笑）</a:t>
            </a:r>
          </a:p>
        </p:txBody>
      </p:sp>
      <p:pic>
        <p:nvPicPr>
          <p:cNvPr id="20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t="15500" r="0" b="15449"/>
          <a:stretch>
            <a:fillRect/>
          </a:stretch>
        </p:blipFill>
        <p:spPr>
          <a:xfrm>
            <a:off x="8068675" y="1517647"/>
            <a:ext cx="3885200" cy="4921253"/>
          </a:xfrm>
          <a:prstGeom prst="rect">
            <a:avLst/>
          </a:prstGeom>
          <a:ln w="38100">
            <a:solidFill>
              <a:srgbClr val="FFFFFF">
                <a:alpha val="100000"/>
              </a:srgb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-26035" y="95250"/>
            <a:ext cx="12192000" cy="6858000"/>
          </a:xfrm>
          <a:prstGeom prst="roundRect"/>
          <a:solidFill>
            <a:srgbClr val="FFFFFF">
              <a:alpha val="65098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777875" y="1524000"/>
            <a:ext cx="7207250" cy="118872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930275" y="1701800"/>
            <a:ext cx="812800" cy="812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835025" y="1733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叹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1825625" y="1417796"/>
            <a:ext cx="6260465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郦道元 · 叹惜记载不详 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“郦元之所见闻，殆与余同，而言之不详。”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（虽能探究却语焉不详）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835025" y="4400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憾</a:t>
            </a:r>
          </a:p>
        </p:txBody>
      </p:sp>
      <p:pic>
        <p:nvPicPr>
          <p:cNvPr id="8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t="15500" r="0" b="15449"/>
          <a:stretch>
            <a:fillRect/>
          </a:stretch>
        </p:blipFill>
        <p:spPr>
          <a:xfrm>
            <a:off x="8143875" y="1343660"/>
            <a:ext cx="4022090" cy="5095240"/>
          </a:xfrm>
          <a:prstGeom prst="rect">
            <a:avLst/>
          </a:prstGeom>
          <a:ln w="38100">
            <a:solidFill>
              <a:srgbClr val="FFFFFF">
                <a:alpha val="100000"/>
              </a:srgbClr>
            </a:solidFill>
            <a:prstDash val="solid"/>
          </a:ln>
        </p:spPr>
      </p:pic>
      <p:sp>
        <p:nvSpPr>
          <p:cNvPr id="9" name="文本4"/>
          <p:cNvSpPr txBox="1"/>
          <p:nvPr/>
        </p:nvSpPr>
        <p:spPr>
          <a:xfrm>
            <a:off x="301819" y="2973038"/>
            <a:ext cx="8213922" cy="354279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诅咒之吻 / 知识的诅咒 (Curse of Knowledge)</a:t>
            </a:r>
          </a:p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郦道元作为地理学家，实际上通过实地考察或前人记录已经掌握了“微波入石穴”的物理真相，但他写得太简略。在认知科学中，这被称为“知识的诅咒”——当一个人知道某件事时，他会本能地以为别人也同样理解，从而在传播信息时忽略了必要的细节。郦道元由于自身认知水平极高，陷入了“专家视角”的局限，导致信息在传播链条中产生了“认知不对称”，给后人的误解埋下了伏笔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-26035" y="95250"/>
            <a:ext cx="12192000" cy="6858000"/>
          </a:xfrm>
          <a:prstGeom prst="roundRect"/>
          <a:solidFill>
            <a:srgbClr val="FFFFFF">
              <a:alpha val="65098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777878" y="1524000"/>
            <a:ext cx="11036303" cy="118872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930275" y="1701800"/>
            <a:ext cx="812800" cy="812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835025" y="1733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讽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1825628" y="1417796"/>
            <a:ext cx="9995459" cy="983812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士大夫 · 讥讽脱离实践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“终不肯以小舟夜泊绝壁之下，故莫能知。”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（空谈臆断，不肯亲历实地探索真相，矜持好面子且缺乏行动）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835025" y="4400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憾</a:t>
            </a:r>
          </a:p>
        </p:txBody>
      </p:sp>
      <p:sp>
        <p:nvSpPr>
          <p:cNvPr id="8" name="文本4"/>
          <p:cNvSpPr txBox="1"/>
          <p:nvPr/>
        </p:nvSpPr>
        <p:spPr>
          <a:xfrm>
            <a:off x="301819" y="2973038"/>
            <a:ext cx="11661972" cy="2704719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认知傲慢 (Epistemic Arrogance)</a:t>
            </a:r>
          </a:p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士大夫阶层代表了典型的“扶手椅上的认知者”。他们受制于阶级优越感和虚荣心，不愿走入田野或亲临一线（“士大夫终不肯以小舟夜泊绝壁之下”）。从认知心理学来看，他们存在严重的“认知傲慢”，即仅凭现成的、符合自身阶级审美的书本知识做出推论，并产生“确认偏误”——只接受符合文人雅趣的解释，而对充满泥土味的、客观的真相视而不见，彻底丧失了实证探究的行动力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-26035" y="95250"/>
            <a:ext cx="12192000" cy="6858000"/>
          </a:xfrm>
          <a:prstGeom prst="roundRect"/>
          <a:solidFill>
            <a:srgbClr val="FFFFFF">
              <a:alpha val="65098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777875" y="1524000"/>
            <a:ext cx="7207250" cy="118872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930275" y="1701800"/>
            <a:ext cx="812800" cy="812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835025" y="1733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憾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1825625" y="1417796"/>
            <a:ext cx="6260465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渔工水师 · 遗憾有实无名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“虽知而不能言。”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（虽有实践却无法记录）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835025" y="4400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憾</a:t>
            </a:r>
          </a:p>
        </p:txBody>
      </p:sp>
      <p:sp>
        <p:nvSpPr>
          <p:cNvPr id="8" name="文本4"/>
          <p:cNvSpPr txBox="1"/>
          <p:nvPr/>
        </p:nvSpPr>
        <p:spPr>
          <a:xfrm>
            <a:off x="301819" y="2973038"/>
            <a:ext cx="11452222" cy="2704719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认知失语症</a:t>
            </a:r>
          </a:p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在知识管理与认知科学中，他们掌握的属于“隐性知识”——这种知识深植于他们的肌肉记忆和行为经验中，却由于缺乏符号化、文字化的工具，无法转化为“显性知识” (Explicit Knowledge)。这种现象在社会心理学中被称为“认知失语”或“认知不平等”（Epistemic Injustice），即处于社会底层的实践者虽然拥有真理，但在话语权体系中却处于边缘，无法将知识沉淀和传播。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-26035" y="95250"/>
            <a:ext cx="12192000" cy="6858000"/>
          </a:xfrm>
          <a:prstGeom prst="roundRect"/>
          <a:solidFill>
            <a:srgbClr val="FFFFFF">
              <a:alpha val="65098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777875" y="1524000"/>
            <a:ext cx="7207250" cy="1188720"/>
          </a:xfrm>
          <a:prstGeom prst="roundRect"/>
          <a:solidFill>
            <a:srgbClr val="FAFAFA">
              <a:alpha val="94901"/>
            </a:srgbClr>
          </a:solidFill>
          <a:ln w="12700">
            <a:solidFill>
              <a:srgbClr val="E5E7EB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930275" y="1701800"/>
            <a:ext cx="812800" cy="812800"/>
          </a:xfrm>
          <a:prstGeom prst="roundRect"/>
          <a:solidFill>
            <a:srgbClr val="33333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835025" y="1733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笑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1825625" y="1417796"/>
            <a:ext cx="6260465" cy="138080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4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陋者（李渤） · 嘲笑主观臆断 </a:t>
            </a:r>
            <a:r>
              <a:rPr lang="zh-CN" altLang="en-US" sz="2400" b="0" i="0" dirty="0">
                <a:solidFill>
                  <a:srgbClr val="4B5563">
                    <a:alpha val="100000"/>
                  </a:srgbClr>
                </a:solidFill>
                <a:latin typeface="Noto Serif SC"/>
                <a:ea typeface="Noto Serif SC"/>
              </a:rPr>
              <a:t>“以斧斤考击而求之，自以为得其实。”</a:t>
            </a:r>
            <a:r>
              <a:rPr lang="zh-CN" altLang="en-US" sz="2400" b="0" i="0" dirty="0">
                <a:solidFill>
                  <a:srgbClr val="6B7280">
                    <a:alpha val="100000"/>
                  </a:srgbClr>
                </a:solidFill>
                <a:latin typeface="Noto Sans SC"/>
                <a:ea typeface="Noto Sans SC"/>
              </a:rPr>
              <a:t>（方肤浅且只看表象）</a:t>
            </a:r>
          </a:p>
        </p:txBody>
      </p:sp>
      <p:sp>
        <p:nvSpPr>
          <p:cNvPr id="7" name="文本3"/>
          <p:cNvSpPr txBox="1"/>
          <p:nvPr/>
        </p:nvSpPr>
        <p:spPr>
          <a:xfrm>
            <a:off x="835025" y="4400550"/>
            <a:ext cx="1003300" cy="74930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200"/>
              </a:lnSpc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Noto Serif SC"/>
                <a:ea typeface="Noto Serif SC"/>
              </a:rPr>
              <a:t>憾</a:t>
            </a:r>
          </a:p>
        </p:txBody>
      </p:sp>
      <p:sp>
        <p:nvSpPr>
          <p:cNvPr id="8" name="文本4"/>
          <p:cNvSpPr txBox="1"/>
          <p:nvPr/>
        </p:nvSpPr>
        <p:spPr>
          <a:xfrm>
            <a:off x="301819" y="2973038"/>
            <a:ext cx="11471472" cy="31237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认知吝啬者偏误 (Cognitive Miser Bias)</a:t>
            </a:r>
          </a:p>
          <a:p>
            <a:pPr marL="0" algn="l"/>
            <a:r>
              <a:rPr lang="zh-CN" altLang="en-US" sz="24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李勃和寺僧在面对石钟山时，采用的是最省力的认知方式。他们用斧头敲击石头，听到声音就以为找到了答案。这在心理学上是典型的“认知吝啬者” (Cognitive Miser)表现——人类大脑倾向于寻找认知捷径，避免耗费精力去深究复杂的因果关系。他们陷入了“幼稚实在论”（盲目相信眼睛看到的、耳朵听到的第一表象，并将其等同于客观全貌），只在信息表层进行“浅层加工”，从而推导出了一个滑稽的因果伪科学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666750" y="412750"/>
            <a:ext cx="10858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关键句子赏析</a:t>
            </a:r>
          </a:p>
        </p:txBody>
      </p:sp>
      <p:sp>
        <p:nvSpPr>
          <p:cNvPr id="3" name="形状1"/>
          <p:cNvSpPr txBox="1"/>
          <p:nvPr/>
        </p:nvSpPr>
        <p:spPr>
          <a:xfrm>
            <a:off x="342738" y="1127417"/>
            <a:ext cx="3625853" cy="5623322"/>
          </a:xfrm>
          <a:prstGeom prst="roundRect"/>
          <a:solidFill>
            <a:srgbClr val="FFFFFF">
              <a:alpha val="89803"/>
            </a:srgbClr>
          </a:solidFill>
          <a:ln w="9525">
            <a:solidFill>
              <a:srgbClr val="FFFFFF">
                <a:alpha val="0"/>
              </a:srgbClr>
            </a:solidFill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2"/>
          <p:cNvSpPr txBox="1"/>
          <p:nvPr/>
        </p:nvSpPr>
        <p:spPr>
          <a:xfrm>
            <a:off x="515312" y="1127484"/>
            <a:ext cx="3111500" cy="1079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100"/>
              </a:lnSpc>
            </a:pPr>
            <a:r>
              <a:rPr lang="zh-CN" altLang="en-US" sz="2099" b="1" i="0" dirty="0">
                <a:solidFill>
                  <a:srgbClr val="1C1C1C">
                    <a:alpha val="100000"/>
                  </a:srgbClr>
                </a:solidFill>
                <a:latin typeface="Noto Serif SC"/>
                <a:ea typeface="Noto Serif SC"/>
              </a:rPr>
              <a:t>“至莫夜月明，独与迈乘小舟，至绝壁下”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342309" y="2116960"/>
            <a:ext cx="3626444" cy="463343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500"/>
              </a:lnSpc>
            </a:pPr>
            <a:r>
              <a:rPr lang="zh-CN" altLang="en-US" sz="17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细节描写与环境烘托：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“莫夜月明”点明时机，营造静谧神秘氛围；“独与迈”“乘小舟”“至绝壁下”，寥寥数字便凸显出行动的孤独、艰难与决绝。</a:t>
            </a:r>
          </a:p>
          <a:p>
            <a:pPr marL="0" algn="l">
              <a:lnSpc>
                <a:spcPts val="2500"/>
              </a:lnSpc>
            </a:pPr>
            <a:r>
              <a:rPr lang="zh-CN" altLang="en-US" sz="17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语言简洁洗练：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仅十二字，便将时间、人物、行动、地点一一交代清楚，言简意丰，尽显古文之妙。</a:t>
            </a:r>
          </a:p>
          <a:p>
            <a:pPr marL="0" algn="l">
              <a:lnSpc>
                <a:spcPts val="2500"/>
              </a:lnSpc>
            </a:pPr>
            <a:r>
              <a:rPr lang="zh-CN" altLang="en-US" sz="17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塑造人物形象：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生动塑造了一个不避艰险、亲历亲为的探索者形象，体现了其“格物致知”的科学精神。</a:t>
            </a:r>
          </a:p>
        </p:txBody>
      </p:sp>
      <p:sp>
        <p:nvSpPr>
          <p:cNvPr id="6" name="形状2"/>
          <p:cNvSpPr txBox="1"/>
          <p:nvPr/>
        </p:nvSpPr>
        <p:spPr>
          <a:xfrm>
            <a:off x="4121315" y="540944"/>
            <a:ext cx="3796703" cy="6210300"/>
          </a:xfrm>
          <a:prstGeom prst="roundRect"/>
          <a:solidFill>
            <a:srgbClr val="FFFFFF">
              <a:alpha val="89803"/>
            </a:srgbClr>
          </a:solidFill>
          <a:ln w="9525">
            <a:solidFill>
              <a:srgbClr val="FFFFFF">
                <a:alpha val="0"/>
              </a:srgbClr>
            </a:solidFill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7" name="文本4"/>
          <p:cNvSpPr txBox="1"/>
          <p:nvPr/>
        </p:nvSpPr>
        <p:spPr>
          <a:xfrm>
            <a:off x="4540253" y="286207"/>
            <a:ext cx="3111503" cy="1652187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700"/>
              </a:lnSpc>
            </a:pPr>
            <a:r>
              <a:rPr lang="zh-CN" altLang="en-US" sz="1800" b="1" i="0" dirty="0">
                <a:solidFill>
                  <a:srgbClr val="1C1C1C">
                    <a:alpha val="100000"/>
                  </a:srgbClr>
                </a:solidFill>
                <a:latin typeface="Noto Serif SC"/>
                <a:ea typeface="Noto Serif SC"/>
              </a:rPr>
              <a:t>“大石侧立千尺，如猛兽奇鬼，森然欲搏人”</a:t>
            </a:r>
          </a:p>
        </p:txBody>
      </p:sp>
      <p:sp>
        <p:nvSpPr>
          <p:cNvPr id="8" name="文本5"/>
          <p:cNvSpPr txBox="1"/>
          <p:nvPr/>
        </p:nvSpPr>
        <p:spPr>
          <a:xfrm>
            <a:off x="4274001" y="1365285"/>
            <a:ext cx="3644303" cy="513181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18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比喻与夸张：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以“猛兽奇鬼”喻山石，兼用夸张手法，赋予静态山石以动态感，淋漓尽致地描绘出绝壁的险峻狰狞与视觉上的压迫感。</a:t>
            </a:r>
          </a:p>
          <a:p>
            <a:pPr marL="0" algn="l">
              <a:lnSpc>
                <a:spcPts val="2600"/>
              </a:lnSpc>
            </a:pPr>
            <a:r>
              <a:rPr lang="zh-CN" altLang="en-US" sz="18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意境营造：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渲染出阴森恐怖的氛围，为下文众人“心动欲还”做了充分铺垫，更以此反衬出苏轼不畏艰险的勇气。</a:t>
            </a:r>
          </a:p>
          <a:p>
            <a:pPr marL="0" algn="l">
              <a:lnSpc>
                <a:spcPts val="2600"/>
              </a:lnSpc>
            </a:pPr>
            <a:r>
              <a:rPr lang="zh-CN" altLang="en-US" sz="18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语言雄健豪放：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用词充满力量感，画面感极强，寥寥数语将读者瞬间带入身临其境的探险现场。</a:t>
            </a:r>
          </a:p>
        </p:txBody>
      </p:sp>
      <p:sp>
        <p:nvSpPr>
          <p:cNvPr id="9" name="形状3"/>
          <p:cNvSpPr txBox="1"/>
          <p:nvPr/>
        </p:nvSpPr>
        <p:spPr>
          <a:xfrm>
            <a:off x="8127997" y="285940"/>
            <a:ext cx="3949703" cy="6508556"/>
          </a:xfrm>
          <a:prstGeom prst="roundRect"/>
          <a:solidFill>
            <a:srgbClr val="FFFFFF">
              <a:alpha val="89803"/>
            </a:srgbClr>
          </a:solidFill>
          <a:ln w="9525">
            <a:solidFill>
              <a:srgbClr val="FFFFFF">
                <a:alpha val="0"/>
              </a:srgbClr>
            </a:solidFill>
          </a:ln>
          <a:effectLst>
            <a:outerShdw blurRad="444500" dist="190500" dir="13500000" rotWithShape="0">
              <a:srgbClr val="000000">
                <a:alpha val="25098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10" name="文本6"/>
          <p:cNvSpPr txBox="1"/>
          <p:nvPr/>
        </p:nvSpPr>
        <p:spPr>
          <a:xfrm>
            <a:off x="8294665" y="286322"/>
            <a:ext cx="3616328" cy="1079497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700"/>
              </a:lnSpc>
            </a:pPr>
            <a:r>
              <a:rPr lang="zh-CN" altLang="en-US" sz="1800" b="1" i="0" dirty="0">
                <a:solidFill>
                  <a:srgbClr val="1C1C1C">
                    <a:alpha val="100000"/>
                  </a:srgbClr>
                </a:solidFill>
                <a:latin typeface="Noto Serif SC"/>
                <a:ea typeface="Noto Serif SC"/>
              </a:rPr>
              <a:t>“因笑谓迈曰：'汝识之乎？'”</a:t>
            </a:r>
          </a:p>
        </p:txBody>
      </p:sp>
      <p:sp>
        <p:nvSpPr>
          <p:cNvPr id="11" name="文本7"/>
          <p:cNvSpPr txBox="1"/>
          <p:nvPr/>
        </p:nvSpPr>
        <p:spPr>
          <a:xfrm>
            <a:off x="8223247" y="769334"/>
            <a:ext cx="3721103" cy="5482152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600"/>
              </a:lnSpc>
            </a:pPr>
            <a:r>
              <a:rPr lang="zh-CN" altLang="en-US" sz="18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细节描写与对话：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一个“笑”字最为传神，生动流露出探明真相后的释然与自得；父子间的自然对话，更让文章充满浓郁的生活气息。</a:t>
            </a:r>
          </a:p>
          <a:p>
            <a:pPr marL="0" algn="l">
              <a:lnSpc>
                <a:spcPts val="2600"/>
              </a:lnSpc>
            </a:pPr>
            <a:r>
              <a:rPr lang="zh-CN" altLang="en-US" sz="18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塑造人物形象：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在展现睿智自信的学者风范同时，也勾勒出一位慈爱的父亲形象，使人物性格更加丰满立体。</a:t>
            </a:r>
          </a:p>
          <a:p>
            <a:pPr marL="0" algn="l">
              <a:lnSpc>
                <a:spcPts val="2600"/>
              </a:lnSpc>
            </a:pPr>
            <a:r>
              <a:rPr lang="zh-CN" altLang="en-US" sz="1899" b="1" i="0" dirty="0">
                <a:solidFill>
                  <a:srgbClr val="333333">
                    <a:alpha val="100000"/>
                  </a:srgbClr>
                </a:solidFill>
                <a:latin typeface="Noto Sans SC"/>
                <a:ea typeface="Noto Sans SC"/>
              </a:rPr>
              <a:t>• 结构承上启下：</a:t>
            </a:r>
            <a:r>
              <a:rPr lang="zh-CN" altLang="en-US" sz="1799" b="0" i="0" dirty="0">
                <a:solidFill>
                  <a:srgbClr val="555555">
                    <a:alpha val="100000"/>
                  </a:srgbClr>
                </a:solidFill>
                <a:latin typeface="Noto Sans SC"/>
                <a:ea typeface="Noto Sans SC"/>
              </a:rPr>
              <a:t>标志着探险行动的结束与释疑解惑的开始，顺势引出“古之人不余欺也”的最终结论。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12192000" cy="6858000"/>
          </a:xfrm>
          <a:prstGeom prst="roundRect"/>
          <a:solidFill>
            <a:srgbClr val="000000">
              <a:alpha val="4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920750" y="2571750"/>
            <a:ext cx="10350500" cy="1206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7200"/>
              </a:lnSpc>
            </a:pPr>
            <a:r>
              <a:rPr lang="zh-CN" altLang="en-US" sz="4800" b="1" i="0" dirty="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</a:rPr>
              <a:t>感谢聆听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920750" y="3968750"/>
            <a:ext cx="10350500" cy="698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3300"/>
              </a:lnSpc>
            </a:pPr>
            <a:r>
              <a:rPr lang="zh-CN" altLang="en-US" sz="2199" b="0" i="0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</a:rPr>
              <a:t>THANK YOU FOR LISTENING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920750" y="5111750"/>
            <a:ext cx="103505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2700"/>
              </a:lnSpc>
            </a:pPr>
            <a:r>
              <a:rPr lang="zh-CN" altLang="en-US" sz="1800" b="0" i="0" dirty="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</a:rPr>
              <a:t>实践出真知 · 探索无止境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老师</dc:creator>
  <dc:title>02《石钟山记》第二课时教学课件</dc:title>
  <revision>1</revision>
  <dcterms:created xsi:type="dcterms:W3CDTF">2026-05-29T02:18:12.4043200Z</dcterms:created>
  <dcterms:modified xsi:type="dcterms:W3CDTF">2026-05-29T02:18:12.4043859Z</dcterms:modified>
  <lastModifiedBy>老师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5.2.4.9838</vt:lpwstr>
  </op:property>
  <op:property fmtid="{D5CDD505-2E9C-101B-9397-08002B2CF9AE}" pid="4" name="EasiNoteCoursewareInfo">
    <vt:lpwstr>269c0e89-a6ea-4f5f-aeb0-ef99c44b05c8:9</vt:lpwstr>
  </op:property>
  <op:property fmtid="{D5CDD505-2E9C-101B-9397-08002B2CF9AE}" pid="5" name="EasiNoteDocumentName">
    <vt:lpwstr>02《石钟山记》第二课时教学课件</vt:lpwstr>
  </op:property>
  <op:property fmtid="{D5CDD505-2E9C-101B-9397-08002B2CF9AE}" pid="6" name="EasiNoteAuthor">
    <vt:lpwstr>540f8f0e8f21424f93ad58d0e9df38bd</vt:lpwstr>
  </op:property>
  <op:property fmtid="{D5CDD505-2E9C-101B-9397-08002B2CF9AE}" pid="7" name="EasiNoteUpstreamCoursewareInfo_0">
    <vt:lpwstr>269c0e89-a6ea-4f5f-aeb0-ef99c44b05c8</vt:lpwstr>
  </op:property>
</op:Properties>
</file>